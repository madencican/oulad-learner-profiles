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ASW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0.4963</c:v>
                </c:pt>
                <c:pt idx="1">
                  <c:v>0.4827</c:v>
                </c:pt>
                <c:pt idx="2">
                  <c:v>0.496</c:v>
                </c:pt>
                <c:pt idx="3">
                  <c:v>0.48</c:v>
                </c:pt>
                <c:pt idx="4">
                  <c:v>0.438</c:v>
                </c:pt>
                <c:pt idx="5">
                  <c:v>0.406</c:v>
                </c:pt>
                <c:pt idx="6">
                  <c:v>0.3805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4748B"/>
                    </a:solidFill>
                    <a:latin typeface="Arial"/>
                  </a:rPr>
                  <a:t>Number of clusters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2"/>
          <c:min val="0.3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4748B"/>
                    </a:solidFill>
                    <a:latin typeface="Arial"/>
                  </a:rPr>
                  <a:t>Average Silhouette Width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Withdrawn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Disengaged
non-starters</c:v>
                  </c:pt>
                  <c:pt idx="1">
                    <c:v>Struggling
partial part.</c:v>
                  </c:pt>
                  <c:pt idx="2">
                    <c:v>Consistent
completers</c:v>
                  </c:pt>
                  <c:pt idx="3">
                    <c:v>Highly engaged
achievers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52</c:v>
                </c:pt>
                <c:pt idx="2">
                  <c:v>5.6</c:v>
                </c:pt>
                <c:pt idx="3">
                  <c:v>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Disengaged
non-starters</c:v>
                  </c:pt>
                  <c:pt idx="1">
                    <c:v>Struggling
partial part.</c:v>
                  </c:pt>
                  <c:pt idx="2">
                    <c:v>Consistent
completers</c:v>
                  </c:pt>
                  <c:pt idx="3">
                    <c:v>Highly engaged
achievers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19.9</c:v>
                </c:pt>
                <c:pt idx="1">
                  <c:v>45.4</c:v>
                </c:pt>
                <c:pt idx="2">
                  <c:v>17.7</c:v>
                </c:pt>
                <c:pt idx="3">
                  <c:v>6.4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Disengaged
non-starters</c:v>
                  </c:pt>
                  <c:pt idx="1">
                    <c:v>Struggling
partial part.</c:v>
                  </c:pt>
                  <c:pt idx="2">
                    <c:v>Consistent
completers</c:v>
                  </c:pt>
                  <c:pt idx="3">
                    <c:v>Highly engaged
achievers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</c:v>
                </c:pt>
                <c:pt idx="1">
                  <c:v>2.3</c:v>
                </c:pt>
                <c:pt idx="2">
                  <c:v>65.2</c:v>
                </c:pt>
                <c:pt idx="3">
                  <c:v>67.2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Distinction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Disengaged
non-starters</c:v>
                  </c:pt>
                  <c:pt idx="1">
                    <c:v>Struggling
partial part.</c:v>
                  </c:pt>
                  <c:pt idx="2">
                    <c:v>Consistent
completers</c:v>
                  </c:pt>
                  <c:pt idx="3">
                    <c:v>Highly engaged
achievers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0.3</c:v>
                </c:pt>
                <c:pt idx="2">
                  <c:v>11.5</c:v>
                </c:pt>
                <c:pt idx="3">
                  <c:v>24.5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  ·  CEIT 720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 Single Outcome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behavioral learner profiles in OULAD against academic success, engagement, and course completion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06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Batuhan C. Madenci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Engineering · Graduate Education Institute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Bursa Technical University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 are usually judged against one outcome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675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widely used to find learner profiles in trace data.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 OULAD, profiles are typically validated against a single outcome — most often academic performance (grade / pass-fail).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usually a clustering input, not an outcome tested afterward.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 / withdrawal is rarely evaluated as its own dimension — even though dropout risk matters independently of grades.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80960" y="18288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THE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242316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that looks meaningful against performance may not be meaningful against engagement or retention.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0" y="388620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OULAD study tests one profile set against all three outcomes at once.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questions, three outcome dimensions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1051560" cy="621792"/>
          </a:xfrm>
          <a:prstGeom prst="roundRect">
            <a:avLst>
              <a:gd name="adj" fmla="val 8824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1783080"/>
            <a:ext cx="93268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distinct behavioral profiles emerge from VLE interaction and assessment data?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127248"/>
            <a:ext cx="1051560" cy="621792"/>
          </a:xfrm>
          <a:prstGeom prst="roundRect">
            <a:avLst>
              <a:gd name="adj" fmla="val 8824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27248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2926080"/>
            <a:ext cx="93268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profiles differ in academic success (assessment scores)?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270248"/>
            <a:ext cx="1051560" cy="621792"/>
          </a:xfrm>
          <a:prstGeom prst="roundRect">
            <a:avLst>
              <a:gd name="adj" fmla="val 8824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0248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57400" y="4069080"/>
            <a:ext cx="93268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profiles differ in engagement (VLE clicks, active days)?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413248"/>
            <a:ext cx="1051560" cy="621792"/>
          </a:xfrm>
          <a:prstGeom prst="roundRect">
            <a:avLst>
              <a:gd name="adj" fmla="val 8824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413248"/>
            <a:ext cx="1051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5212080"/>
            <a:ext cx="93268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profiles differ in course completion and withdrawal?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University Learning Analytics Dataset (OULAD)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32,593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student–module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55848" y="1783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55848" y="2606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3056" y="1783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 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63056" y="2606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70264" y="1783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70264" y="19659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CC-BY 4.0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70264" y="2606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license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(Kuzilek+ 2017)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Four tables drive the analysis: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studentInfo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final course outcome + demographics   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studentVle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daily clickstream logs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studentAssessment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submissions + scores   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assessment metadata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behavioral features, two key decisions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943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total_clicks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volume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active_days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consistency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submission_rate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participation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mean_score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attainment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78308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8660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① Exclude exams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86600" y="228600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Final-exam scores are largely missing → would bias submission_rate. Captured instead via final_result (RQ4).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0" y="342900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8660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② Informative zeros, not deletion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86600" y="393192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is concentrated in withdrawals (29% no VLE, 54% no assessment). Deleting would erase the very students RQ4 studies — so absence is encoded as zero.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 on z-standardized features · Euclidean dissimilarity · no outlier removal (robust by design)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learning-analytics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Clustering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 (PAM), FasterPAM implementation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points as centers → robust to heavy-tailed clickstreams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selected by Average Silhouette Width (ASW)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&amp; BIC/AIC rejected (mismatched to dissimilarity methods)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Group comparisons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Kruskal–Wallis H — continuous outcomes (RQ2, RQ3)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effect size; Dunn post-hoc with Bonferroni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test of independence — course outcome (RQ4)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Cramér's V effect size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≈ 32,600 everything is "significant" → we read effect sizes, not p-values.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· SELECTING 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ASW ties at k = 2 and k = 4 — we choose k = 4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92024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Why not k = 2?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0" y="25146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(0.496) and k=4 (0.496) are statistically indistinguishable (Δ ≈ 0.0003).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collapses to a single engaged / disengaged split — too coarse for RQ3 &amp; RQ4.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keeps silhouette quality and gives the resolution the questions need.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· PROFILES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distinct, well-separated learner types</a:t>
            </a:r>
            <a:endParaRPr lang="en-US" sz="3000" dirty="0"/>
          </a:p>
        </p:txBody>
      </p:sp>
      <p:pic>
        <p:nvPicPr>
          <p:cNvPr id="4" name="Image 0" descr="assets/fingerpri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83080"/>
            <a:ext cx="67665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88366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7556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Disengaged non-starters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7,302 · minimal activity, near-zero submission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43800" y="2779776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6517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partial participants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6,779 · low effort, moderate scores when they submit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543800" y="3675888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54787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completers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11,802 · lean browsing, high submission &amp; solid scores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543800" y="4572000"/>
            <a:ext cx="201168" cy="201168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4443984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engaged achievers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6,710 · top on every feature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&amp; RQ3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 differ on every continuous outcome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2194560"/>
                <a:gridCol w="109728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18,931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ε² = 0.58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clicks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25,121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ε² = 0.77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26,604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ε² = 0.82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828800"/>
            <a:ext cx="3108960" cy="35661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Large effects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2520" y="2423160"/>
            <a:ext cx="2697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cluster pairs differ on every outcome (Dunn, p &lt; .001).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were clustering inputs — so this confirms separation rather than discovering it.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· EXTERNAL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profiles predict course outcome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863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778240" y="1828800"/>
            <a:ext cx="2834640" cy="3657600"/>
          </a:xfrm>
          <a:prstGeom prst="roundRect">
            <a:avLst>
              <a:gd name="adj" fmla="val 2581"/>
            </a:avLst>
          </a:prstGeom>
          <a:solidFill>
            <a:srgbClr val="0F2A4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78240" y="2148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25,278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77824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8CC"/>
                </a:solidFill>
              </a:rPr>
              <a:t>p &lt; .001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0" y="3246120"/>
            <a:ext cx="1554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8CC"/>
                </a:solidFill>
              </a:rPr>
              <a:t>Cramér's V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778240" y="37490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778240" y="4434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DB8CC"/>
                </a:solidFill>
              </a:rPr>
              <a:t>a large effect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Withdrawal and failure are distinct pathways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Disengaged non-starters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— without failing. They never meaningfully start.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→ early / pre-enrolment outreach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Struggling partial participants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fail   </a:t>
            </a:r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withdraw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engage and submit some work — a follow-through gap, not absence.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→ mid-course follow-through support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performance outcome would merge both into one "unsuccessful" group and hide that they need different interventions.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not the same as attainment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completers reach </a:t>
            </a:r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achievers' mean score with only </a:t>
            </a:r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clicks.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</a:rPr>
              <a:t>Lean path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avg clicks  →  score 74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Consistent completers (largest group)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</a:rPr>
              <a:t>Intensive path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3291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3,725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92240" y="4160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avg clicks  →  score 81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Highly engaged achievers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— dashboards that flag low-click students would misclassify the efficient completers.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bounds these claims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not orthogonal (r = 0.84) — four profiles span ~two latent axes.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is only partly external: outcome correlates with score; withdrawal is the cleanest independent signal.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chosen on a sample; full cohort assigned by nearest medoid (an approximation to full PAM).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pooled across 22 module presentations of differing structure.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— cannot say when disengagement occurs.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temporal / sequence models · module-level modeling · cross-dataset replication · intervention studies.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multi-outcome evaluation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0391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robust profiles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49631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Disengaged · struggling · completers · achievers — fully separated.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10312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20391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validity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249631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predicts course outcome (V = 0.51), never used in clustering.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97764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9136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Withdrawal ≠ failure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37083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risk pathways a single-outcome view would merge.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97764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39136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≠ attainment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437083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scores reached via lean or intensive routes alike.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methodological, not a new algorithm.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Outcome  ·  OULAD learner profiles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6868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411480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Batuhan C. Madenci   ·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github.com/madencican/oulad-learner-profiles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a Single Outcome</dc:title>
  <dc:subject>PptxGenJS Presentation</dc:subject>
  <dc:creator>Batuhan C. Madenci</dc:creator>
  <cp:lastModifiedBy>Batuhan C. Madenci</cp:lastModifiedBy>
  <cp:revision>1</cp:revision>
  <dcterms:created xsi:type="dcterms:W3CDTF">2026-06-21T18:39:20Z</dcterms:created>
  <dcterms:modified xsi:type="dcterms:W3CDTF">2026-06-21T18:39:20Z</dcterms:modified>
</cp:coreProperties>
</file>